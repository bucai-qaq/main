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2C4"/>
    <a:srgbClr val="BA8F3F"/>
    <a:srgbClr val="4C6296"/>
    <a:srgbClr val="4C6297"/>
    <a:srgbClr val="FDFAE9"/>
    <a:srgbClr val="E5EBFA"/>
    <a:srgbClr val="E5EAFA"/>
    <a:srgbClr val="D8E4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2364" y="1876"/>
      </p:cViewPr>
      <p:guideLst>
        <p:guide orient="horz" pos="340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689B6-4DCF-F1D7-33BF-DC5695040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4D618-7794-F51D-D42E-F291F9FE5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A08F6-A3B0-456E-7371-EFB4DD15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83D498-5E1B-60A3-4B23-26523212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F3BFEE-F454-7438-9875-9C7CD6F8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71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F74C3-CD11-4ED0-26E8-ABEF1F9F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790569-73C7-6B8D-7278-6E969356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36D0A8-CF23-C3BB-8C75-527B9226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22A56D-430D-8F3C-E164-0E509EF7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755679-DE80-7498-11CF-765E8F00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32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54BCA-A3CB-2D60-20A1-32986C4F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0D208C-FA49-8352-CBFD-46FEDF041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EC5CA4-F5BC-6ADB-25DB-8D1F1D07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A4BA5A-E6E3-6528-99B1-17BA6C89F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EC987B-3B36-81DA-9C9A-A9F33F4B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27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F43E5-E9E8-D821-F06A-0CAF3797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DE06AF-F22C-2F9C-1D4B-AE82AA45D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756424-D88D-43F5-542E-715A42EDC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6FE5B8-8988-81D5-5A0B-E9FAEB9F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E9DC6D-78AB-2B85-3B52-BDE1CDAA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2371BF-C6BA-6220-592D-5FB74E92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86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79D1E-4D9D-3CB5-C451-BED3A5C9E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848C7F-EF87-360E-7236-D5277B58D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1ACB2E-DCB4-FF52-E366-CCA7E0257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4DA2C3-4332-3F3D-3DC1-C1EDEA085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46BCDC-016D-D1A3-E254-ED5EA045C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B3EC7D-9748-8169-13DB-330C8F41C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070BF5-7A44-A546-C96E-9FB9D860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CB0465B-5BA1-8B9A-6E69-339A97C6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08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63C518-7105-9FC5-0CC0-0A10093A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FD3EB2-14E0-6777-0293-40F5C588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9625D5-8486-0BF4-366D-35645449C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8B38BD-7ACE-83E7-5528-18B1EBED6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94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060948-9712-05BF-E7EC-B45895FF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C778494-87E5-2B09-5D2A-DD58B87B3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57909A-35C5-75A7-DF2C-04679ED9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264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4111D-6822-2C18-2DE1-1D378D07C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EE7183-D695-FCF6-D8C0-0921AD160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C457E1-19B3-97ED-9133-2E8F14E43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09FA35-B72E-DC3A-1AB7-BC6E82421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4D3D90-2F55-A391-614D-D6AAC327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BCA76C-4889-E519-36F1-06A3AE660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42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6C011-C5AE-5A0C-EF3A-38328158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3592737-0824-660A-C151-05BE88E7EF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0956BD-50F9-DBE2-11C0-19BD7C3B5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247D55-DC0F-9B15-C54C-C910B893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611228-154F-E0FD-B457-9E5A641A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4B6B99-DF9F-0E69-E5AA-11A5A347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303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8B5A3-486B-472C-4EDC-7F77135D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1085DE-8122-06FC-16C5-BBF2CFD53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5D993-1459-3617-B988-FB22739F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99D44F-17E3-9634-98E5-87DE14DC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2CDE0A-952B-FF0F-3CAC-8DE7076E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758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69D790-C8AA-6770-A488-CD15BE5C1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5BFF44-1935-0B43-17E3-BD946C286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9598B1-2E16-24A2-8923-1D12E755B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D9B589-6A88-6C12-0E71-A801858E6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5BF457-F17E-8BBB-C3BA-9C607B87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82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EDC098-EE9C-B514-EB23-A8091B756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3635D2-E85B-9EDB-0873-A9967D900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39089A-F0DA-2398-1D75-4C58CB06F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58FF7-4905-401D-B935-C9E4EAA3600C}" type="datetimeFigureOut">
              <a:rPr lang="zh-CN" altLang="en-US" smtClean="0"/>
              <a:t>2026/2/24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57F46-3D84-DACF-2BEB-2ED61236C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36C58-8435-E34B-F8A3-77B302544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CD5A2-B0DE-4C6C-B55D-15D2574AE0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96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2F27745-163C-7ED7-4974-4DC84E54A1BD}"/>
              </a:ext>
            </a:extLst>
          </p:cNvPr>
          <p:cNvSpPr/>
          <p:nvPr/>
        </p:nvSpPr>
        <p:spPr>
          <a:xfrm>
            <a:off x="6841177" y="1018632"/>
            <a:ext cx="3290847" cy="4485213"/>
          </a:xfrm>
          <a:prstGeom prst="roundRect">
            <a:avLst>
              <a:gd name="adj" fmla="val 2757"/>
            </a:avLst>
          </a:prstGeom>
          <a:solidFill>
            <a:srgbClr val="FDFA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17CB3C9-79F6-72C7-CCBC-9ADA2BBB9A9E}"/>
              </a:ext>
            </a:extLst>
          </p:cNvPr>
          <p:cNvSpPr/>
          <p:nvPr/>
        </p:nvSpPr>
        <p:spPr>
          <a:xfrm>
            <a:off x="741563" y="1018632"/>
            <a:ext cx="5319741" cy="4478866"/>
          </a:xfrm>
          <a:prstGeom prst="roundRect">
            <a:avLst>
              <a:gd name="adj" fmla="val 2757"/>
            </a:avLst>
          </a:prstGeom>
          <a:solidFill>
            <a:srgbClr val="E5EBF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C59AA0D-FC02-13AE-8399-E12AF3526E80}"/>
              </a:ext>
            </a:extLst>
          </p:cNvPr>
          <p:cNvSpPr/>
          <p:nvPr/>
        </p:nvSpPr>
        <p:spPr>
          <a:xfrm>
            <a:off x="1118210" y="2573866"/>
            <a:ext cx="1949227" cy="1109132"/>
          </a:xfrm>
          <a:prstGeom prst="roundRect">
            <a:avLst>
              <a:gd name="adj" fmla="val 88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3447A65-700E-332E-AC6D-ACCD22C1050C}"/>
              </a:ext>
            </a:extLst>
          </p:cNvPr>
          <p:cNvSpPr/>
          <p:nvPr/>
        </p:nvSpPr>
        <p:spPr>
          <a:xfrm>
            <a:off x="1521436" y="1566334"/>
            <a:ext cx="1323364" cy="389466"/>
          </a:xfrm>
          <a:prstGeom prst="roundRect">
            <a:avLst>
              <a:gd name="adj" fmla="val 114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C440C0E-A888-AE09-C6F5-18D25F06A42E}"/>
              </a:ext>
            </a:extLst>
          </p:cNvPr>
          <p:cNvSpPr/>
          <p:nvPr/>
        </p:nvSpPr>
        <p:spPr>
          <a:xfrm>
            <a:off x="3738880" y="2573867"/>
            <a:ext cx="2007869" cy="1109132"/>
          </a:xfrm>
          <a:prstGeom prst="roundRect">
            <a:avLst>
              <a:gd name="adj" fmla="val 886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顶角 13">
            <a:extLst>
              <a:ext uri="{FF2B5EF4-FFF2-40B4-BE49-F238E27FC236}">
                <a16:creationId xmlns:a16="http://schemas.microsoft.com/office/drawing/2014/main" id="{A0E0EDE7-A037-ED83-FF4D-4307BD7259E0}"/>
              </a:ext>
            </a:extLst>
          </p:cNvPr>
          <p:cNvSpPr/>
          <p:nvPr/>
        </p:nvSpPr>
        <p:spPr>
          <a:xfrm flipV="1">
            <a:off x="1130520" y="3073399"/>
            <a:ext cx="1924606" cy="601133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3451505-A12F-6EA9-1ECB-CD74280093B6}"/>
                  </a:ext>
                </a:extLst>
              </p:cNvPr>
              <p:cNvSpPr txBox="1"/>
              <p:nvPr/>
            </p:nvSpPr>
            <p:spPr>
              <a:xfrm>
                <a:off x="1155141" y="2626271"/>
                <a:ext cx="1924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策略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3451505-A12F-6EA9-1ECB-CD7428009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141" y="2626271"/>
                <a:ext cx="1924606" cy="369332"/>
              </a:xfrm>
              <a:prstGeom prst="rect">
                <a:avLst/>
              </a:prstGeom>
              <a:blipFill>
                <a:blip r:embed="rId2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672AC4E-C3DF-57A8-B29E-58B50FCAA800}"/>
                  </a:ext>
                </a:extLst>
              </p:cNvPr>
              <p:cNvSpPr txBox="1"/>
              <p:nvPr/>
            </p:nvSpPr>
            <p:spPr>
              <a:xfrm>
                <a:off x="1136675" y="3168137"/>
                <a:ext cx="19122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672AC4E-C3DF-57A8-B29E-58B50FCAA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675" y="3168137"/>
                <a:ext cx="1912296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顶角 16">
            <a:extLst>
              <a:ext uri="{FF2B5EF4-FFF2-40B4-BE49-F238E27FC236}">
                <a16:creationId xmlns:a16="http://schemas.microsoft.com/office/drawing/2014/main" id="{B9A77E55-CDFF-9871-E9E6-EA9731E8A76A}"/>
              </a:ext>
            </a:extLst>
          </p:cNvPr>
          <p:cNvSpPr/>
          <p:nvPr/>
        </p:nvSpPr>
        <p:spPr>
          <a:xfrm flipV="1">
            <a:off x="3751189" y="3109333"/>
            <a:ext cx="1983249" cy="573665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A176082-C671-1541-46F7-1412A122637F}"/>
              </a:ext>
            </a:extLst>
          </p:cNvPr>
          <p:cNvSpPr txBox="1"/>
          <p:nvPr/>
        </p:nvSpPr>
        <p:spPr>
          <a:xfrm>
            <a:off x="3822143" y="2626823"/>
            <a:ext cx="192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策略优化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543925F-B213-E817-4E71-E2CC30CFC770}"/>
                  </a:ext>
                </a:extLst>
              </p:cNvPr>
              <p:cNvSpPr txBox="1"/>
              <p:nvPr/>
            </p:nvSpPr>
            <p:spPr>
              <a:xfrm>
                <a:off x="3669923" y="3221057"/>
                <a:ext cx="2145780" cy="5629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500" i="1"/>
                        <m:t>𝐽</m:t>
                      </m:r>
                      <m:r>
                        <a:rPr lang="en-US" altLang="zh-CN" sz="1500"/>
                        <m:t>(</m:t>
                      </m:r>
                      <m:r>
                        <a:rPr lang="en-US" altLang="zh-CN" sz="1500" i="1"/>
                        <m:t>𝜃</m:t>
                      </m:r>
                      <m:r>
                        <a:rPr lang="en-US" altLang="zh-CN" sz="1500"/>
                        <m:t>)=</m:t>
                      </m:r>
                      <m:sSub>
                        <m:sSubPr>
                          <m:ctrlPr>
                            <a:rPr lang="zh-CN" altLang="zh-CN" sz="1500" i="1"/>
                          </m:ctrlPr>
                        </m:sSubPr>
                        <m:e>
                          <m:r>
                            <a:rPr lang="en-US" altLang="zh-CN" sz="1500" i="1"/>
                            <m:t>𝔼</m:t>
                          </m:r>
                        </m:e>
                        <m:sub>
                          <m:r>
                            <a:rPr lang="en-US" altLang="zh-CN" sz="1500" i="1"/>
                            <m:t>𝜏</m:t>
                          </m:r>
                          <m:r>
                            <a:rPr lang="en-US" altLang="zh-CN" sz="1500"/>
                            <m:t>∼</m:t>
                          </m:r>
                          <m:sSub>
                            <m:sSubPr>
                              <m:ctrlPr>
                                <a:rPr lang="zh-CN" altLang="zh-CN" sz="1500" i="1"/>
                              </m:ctrlPr>
                            </m:sSubPr>
                            <m:e>
                              <m:r>
                                <a:rPr lang="en-US" altLang="zh-CN" sz="1500" i="1"/>
                                <m:t>𝜋</m:t>
                              </m:r>
                            </m:e>
                            <m:sub>
                              <m:r>
                                <a:rPr lang="en-US" altLang="zh-CN" sz="1500" i="1"/>
                                <m:t>𝜃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sz="1500" i="1"/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zh-CN" sz="1500" i="1"/>
                              </m:ctrlPr>
                            </m:sSubSupPr>
                            <m:e>
                              <m:r>
                                <a:rPr lang="en-US" altLang="zh-CN" sz="1500"/>
                                <m:t>∑</m:t>
                              </m:r>
                            </m:e>
                            <m:sub>
                              <m:r>
                                <a:rPr lang="en-US" altLang="zh-CN" sz="1500" i="1"/>
                                <m:t>𝑡</m:t>
                              </m:r>
                              <m:r>
                                <a:rPr lang="en-US" altLang="zh-CN" sz="1500"/>
                                <m:t>=0</m:t>
                              </m:r>
                            </m:sub>
                            <m:sup>
                              <m:r>
                                <a:rPr lang="en-US" altLang="zh-CN" sz="1500" i="1"/>
                                <m:t>𝑇</m:t>
                              </m:r>
                            </m:sup>
                          </m:sSubSup>
                          <m:r>
                            <a:rPr lang="en-US" altLang="zh-CN" sz="1500"/>
                            <m:t> </m:t>
                          </m:r>
                          <m:sSup>
                            <m:sSupPr>
                              <m:ctrlPr>
                                <a:rPr lang="zh-CN" altLang="zh-CN" sz="1500" i="1"/>
                              </m:ctrlPr>
                            </m:sSupPr>
                            <m:e>
                              <m:r>
                                <a:rPr lang="en-US" altLang="zh-CN" sz="1500" i="1"/>
                                <m:t>𝛾</m:t>
                              </m:r>
                            </m:e>
                            <m:sup>
                              <m:r>
                                <a:rPr lang="en-US" altLang="zh-CN" sz="1500" i="1"/>
                                <m:t>𝑡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1500" i="1"/>
                              </m:ctrlPr>
                            </m:sSubPr>
                            <m:e>
                              <m:r>
                                <a:rPr lang="en-US" altLang="zh-CN" sz="1500" i="1"/>
                                <m:t>𝑟</m:t>
                              </m:r>
                            </m:e>
                            <m:sub>
                              <m:r>
                                <a:rPr lang="en-US" altLang="zh-CN" sz="1500" i="1"/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zh-CN" sz="150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543925F-B213-E817-4E71-E2CC30CFC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923" y="3221057"/>
                <a:ext cx="2145780" cy="562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41242EE-B85A-E9A4-5031-EBA490F628D0}"/>
                  </a:ext>
                </a:extLst>
              </p:cNvPr>
              <p:cNvSpPr txBox="1"/>
              <p:nvPr/>
            </p:nvSpPr>
            <p:spPr>
              <a:xfrm>
                <a:off x="1220815" y="4301064"/>
                <a:ext cx="1924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状态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𝑠</m:t>
                    </m:r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141242EE-B85A-E9A4-5031-EBA490F62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815" y="4301064"/>
                <a:ext cx="1924606" cy="369332"/>
              </a:xfrm>
              <a:prstGeom prst="rect">
                <a:avLst/>
              </a:prstGeom>
              <a:blipFill>
                <a:blip r:embed="rId5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654EF96-4C4F-1047-1920-F7E80596A432}"/>
                  </a:ext>
                </a:extLst>
              </p:cNvPr>
              <p:cNvSpPr txBox="1"/>
              <p:nvPr/>
            </p:nvSpPr>
            <p:spPr>
              <a:xfrm>
                <a:off x="1220815" y="1546200"/>
                <a:ext cx="1924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奖励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𝑟</m:t>
                    </m:r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654EF96-4C4F-1047-1920-F7E80596A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815" y="1546200"/>
                <a:ext cx="1924606" cy="369332"/>
              </a:xfrm>
              <a:prstGeom prst="rect">
                <a:avLst/>
              </a:prstGeom>
              <a:blipFill>
                <a:blip r:embed="rId6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71912CE-3175-8802-5454-5EA3D67357BF}"/>
              </a:ext>
            </a:extLst>
          </p:cNvPr>
          <p:cNvSpPr/>
          <p:nvPr/>
        </p:nvSpPr>
        <p:spPr>
          <a:xfrm>
            <a:off x="1521436" y="4301064"/>
            <a:ext cx="1323364" cy="389466"/>
          </a:xfrm>
          <a:prstGeom prst="roundRect">
            <a:avLst>
              <a:gd name="adj" fmla="val 114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34449AD-FCB5-32E2-D890-6BDF2CE9651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2" t="9083" r="11897" b="14805"/>
          <a:stretch>
            <a:fillRect/>
          </a:stretch>
        </p:blipFill>
        <p:spPr>
          <a:xfrm>
            <a:off x="7506932" y="1583395"/>
            <a:ext cx="2343989" cy="3404167"/>
          </a:xfrm>
          <a:prstGeom prst="rect">
            <a:avLst/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073A10F-3911-D728-A04C-6230F8BC4C0E}"/>
              </a:ext>
            </a:extLst>
          </p:cNvPr>
          <p:cNvSpPr/>
          <p:nvPr/>
        </p:nvSpPr>
        <p:spPr>
          <a:xfrm>
            <a:off x="7210007" y="1545332"/>
            <a:ext cx="2628205" cy="3404167"/>
          </a:xfrm>
          <a:prstGeom prst="roundRect">
            <a:avLst>
              <a:gd name="adj" fmla="val 2757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3B2C804-C948-9A5E-DCE3-623A72A40D89}"/>
              </a:ext>
            </a:extLst>
          </p:cNvPr>
          <p:cNvSpPr txBox="1"/>
          <p:nvPr/>
        </p:nvSpPr>
        <p:spPr>
          <a:xfrm>
            <a:off x="7561807" y="1039343"/>
            <a:ext cx="192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环境交互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08E9764-7643-ABF1-A31E-9CD6FF48700C}"/>
              </a:ext>
            </a:extLst>
          </p:cNvPr>
          <p:cNvCxnSpPr>
            <a:cxnSpLocks/>
          </p:cNvCxnSpPr>
          <p:nvPr/>
        </p:nvCxnSpPr>
        <p:spPr>
          <a:xfrm flipH="1">
            <a:off x="2844800" y="4482520"/>
            <a:ext cx="4355947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A4CA687-E816-0BAD-95FE-A59609738F35}"/>
              </a:ext>
            </a:extLst>
          </p:cNvPr>
          <p:cNvCxnSpPr>
            <a:cxnSpLocks/>
          </p:cNvCxnSpPr>
          <p:nvPr/>
        </p:nvCxnSpPr>
        <p:spPr>
          <a:xfrm flipV="1">
            <a:off x="2183118" y="3682998"/>
            <a:ext cx="0" cy="61806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7066AD3-B1E3-C08F-2816-BD3DB4D0AC32}"/>
              </a:ext>
            </a:extLst>
          </p:cNvPr>
          <p:cNvCxnSpPr>
            <a:cxnSpLocks/>
          </p:cNvCxnSpPr>
          <p:nvPr/>
        </p:nvCxnSpPr>
        <p:spPr>
          <a:xfrm>
            <a:off x="2182613" y="1955800"/>
            <a:ext cx="0" cy="618066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888AA17-259D-094B-4AF3-FAE8FBFFE222}"/>
              </a:ext>
            </a:extLst>
          </p:cNvPr>
          <p:cNvCxnSpPr>
            <a:cxnSpLocks/>
          </p:cNvCxnSpPr>
          <p:nvPr/>
        </p:nvCxnSpPr>
        <p:spPr>
          <a:xfrm>
            <a:off x="3067437" y="3073399"/>
            <a:ext cx="671443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D5E5128-C308-AAA1-1F3D-FE80FEC0C8AF}"/>
                  </a:ext>
                </a:extLst>
              </p:cNvPr>
              <p:cNvSpPr txBox="1"/>
              <p:nvPr/>
            </p:nvSpPr>
            <p:spPr>
              <a:xfrm>
                <a:off x="6786743" y="2878083"/>
                <a:ext cx="1924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动作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𝛼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</a:p>
            </p:txBody>
          </p:sp>
        </mc:Choice>
        <mc:Fallback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D5E5128-C308-AAA1-1F3D-FE80FEC0C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743" y="2878083"/>
                <a:ext cx="1924606" cy="369332"/>
              </a:xfrm>
              <a:prstGeom prst="rect">
                <a:avLst/>
              </a:prstGeom>
              <a:blipFill>
                <a:blip r:embed="rId8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66E9F005-0D4E-B5F7-91B3-47AC2CA0CF71}"/>
              </a:ext>
            </a:extLst>
          </p:cNvPr>
          <p:cNvSpPr/>
          <p:nvPr/>
        </p:nvSpPr>
        <p:spPr>
          <a:xfrm>
            <a:off x="7381725" y="2899382"/>
            <a:ext cx="734643" cy="348034"/>
          </a:xfrm>
          <a:prstGeom prst="roundRect">
            <a:avLst>
              <a:gd name="adj" fmla="val 114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29E2C56-8E1C-F5E3-F6EB-EF13E7590C13}"/>
              </a:ext>
            </a:extLst>
          </p:cNvPr>
          <p:cNvCxnSpPr>
            <a:cxnSpLocks/>
          </p:cNvCxnSpPr>
          <p:nvPr/>
        </p:nvCxnSpPr>
        <p:spPr>
          <a:xfrm>
            <a:off x="5741178" y="3073399"/>
            <a:ext cx="1640547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B4318E46-6C0F-E36F-3627-F5EFC69731F8}"/>
              </a:ext>
            </a:extLst>
          </p:cNvPr>
          <p:cNvSpPr/>
          <p:nvPr/>
        </p:nvSpPr>
        <p:spPr>
          <a:xfrm>
            <a:off x="3412541" y="1537272"/>
            <a:ext cx="2175318" cy="418140"/>
          </a:xfrm>
          <a:prstGeom prst="roundRect">
            <a:avLst>
              <a:gd name="adj" fmla="val 10982"/>
            </a:avLst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A57F825-2E53-A45D-F723-050C914E9267}"/>
                  </a:ext>
                </a:extLst>
              </p:cNvPr>
              <p:cNvSpPr txBox="1"/>
              <p:nvPr/>
            </p:nvSpPr>
            <p:spPr>
              <a:xfrm>
                <a:off x="3668554" y="1537271"/>
                <a:ext cx="1667933" cy="436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/>
                          </m:ctrlPr>
                        </m:sSubPr>
                        <m:e>
                          <m:r>
                            <a:rPr lang="en-US" altLang="zh-CN" i="1"/>
                            <m:t>𝑟</m:t>
                          </m:r>
                        </m:e>
                        <m:sub>
                          <m:r>
                            <a:rPr lang="en-US" altLang="zh-CN" i="1"/>
                            <m:t>𝑡</m:t>
                          </m:r>
                        </m:sub>
                      </m:sSub>
                      <m:r>
                        <a:rPr lang="en-US" altLang="zh-CN"/>
                        <m:t>=</m:t>
                      </m:r>
                      <m:sSub>
                        <m:sSubPr>
                          <m:ctrlPr>
                            <a:rPr lang="zh-CN" altLang="zh-CN" i="1"/>
                          </m:ctrlPr>
                        </m:sSubPr>
                        <m:e>
                          <m:r>
                            <a:rPr lang="en-US" altLang="zh-CN"/>
                            <m:t>∑</m:t>
                          </m:r>
                        </m:e>
                        <m:sub>
                          <m:r>
                            <a:rPr lang="en-US" altLang="zh-CN" i="1"/>
                            <m:t>𝑖</m:t>
                          </m:r>
                        </m:sub>
                      </m:sSub>
                      <m:r>
                        <a:rPr lang="en-US" altLang="zh-CN"/>
                        <m:t> </m:t>
                      </m:r>
                      <m:sSub>
                        <m:sSubPr>
                          <m:ctrlPr>
                            <a:rPr lang="zh-CN" altLang="zh-CN" i="1"/>
                          </m:ctrlPr>
                        </m:sSubPr>
                        <m:e>
                          <m:r>
                            <a:rPr lang="en-US" altLang="zh-CN" i="1"/>
                            <m:t>𝑤</m:t>
                          </m:r>
                        </m:e>
                        <m:sub>
                          <m:r>
                            <a:rPr lang="en-US" altLang="zh-CN" i="1"/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zh-CN" altLang="zh-CN" i="1"/>
                          </m:ctrlPr>
                        </m:sSubSupPr>
                        <m:e>
                          <m:r>
                            <a:rPr lang="en-US" altLang="zh-CN" i="1"/>
                            <m:t>𝑟</m:t>
                          </m:r>
                        </m:e>
                        <m:sub>
                          <m:r>
                            <a:rPr lang="en-US" altLang="zh-CN" i="1"/>
                            <m:t>𝑡</m:t>
                          </m:r>
                        </m:sub>
                        <m:sup>
                          <m:r>
                            <a:rPr lang="en-US" altLang="zh-CN"/>
                            <m:t>(</m:t>
                          </m:r>
                          <m:r>
                            <a:rPr lang="en-US" altLang="zh-CN" i="1"/>
                            <m:t>𝑖</m:t>
                          </m:r>
                          <m:r>
                            <a:rPr lang="en-US" altLang="zh-CN"/>
                            <m:t>)</m:t>
                          </m:r>
                        </m:sup>
                      </m:sSubSup>
                    </m:oMath>
                  </m:oMathPara>
                </a14:m>
                <a:endParaRPr lang="zh-CN" altLang="zh-CN" dirty="0"/>
              </a:p>
            </p:txBody>
          </p:sp>
        </mc:Choice>
        <mc:Fallback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A57F825-2E53-A45D-F723-050C914E9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554" y="1537271"/>
                <a:ext cx="1667933" cy="436017"/>
              </a:xfrm>
              <a:prstGeom prst="rect">
                <a:avLst/>
              </a:prstGeom>
              <a:blipFill>
                <a:blip r:embed="rId9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E00E0FDC-DF34-4235-C970-415E83E091C1}"/>
              </a:ext>
            </a:extLst>
          </p:cNvPr>
          <p:cNvCxnSpPr>
            <a:cxnSpLocks/>
          </p:cNvCxnSpPr>
          <p:nvPr/>
        </p:nvCxnSpPr>
        <p:spPr>
          <a:xfrm>
            <a:off x="2844800" y="1755278"/>
            <a:ext cx="556634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连接符: 肘形 60">
            <a:extLst>
              <a:ext uri="{FF2B5EF4-FFF2-40B4-BE49-F238E27FC236}">
                <a16:creationId xmlns:a16="http://schemas.microsoft.com/office/drawing/2014/main" id="{AC579BC0-7956-121D-937B-3FDBFCDFBC1E}"/>
              </a:ext>
            </a:extLst>
          </p:cNvPr>
          <p:cNvCxnSpPr>
            <a:endCxn id="24" idx="0"/>
          </p:cNvCxnSpPr>
          <p:nvPr/>
        </p:nvCxnSpPr>
        <p:spPr>
          <a:xfrm rot="10800000">
            <a:off x="2183119" y="1546201"/>
            <a:ext cx="5017629" cy="832933"/>
          </a:xfrm>
          <a:prstGeom prst="bentConnector4">
            <a:avLst>
              <a:gd name="adj1" fmla="val 14763"/>
              <a:gd name="adj2" fmla="val 140659"/>
            </a:avLst>
          </a:prstGeom>
          <a:ln w="9525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87E2A2BC-3A3B-F1FA-79FC-6046E795C707}"/>
              </a:ext>
            </a:extLst>
          </p:cNvPr>
          <p:cNvSpPr/>
          <p:nvPr/>
        </p:nvSpPr>
        <p:spPr>
          <a:xfrm>
            <a:off x="2751668" y="5071663"/>
            <a:ext cx="1168400" cy="331098"/>
          </a:xfrm>
          <a:prstGeom prst="roundRect">
            <a:avLst>
              <a:gd name="adj" fmla="val 11453"/>
            </a:avLst>
          </a:prstGeom>
          <a:solidFill>
            <a:srgbClr val="4C6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D8FC2E3-7D53-9CFA-C2E2-3E9B8EBD6589}"/>
              </a:ext>
            </a:extLst>
          </p:cNvPr>
          <p:cNvSpPr txBox="1"/>
          <p:nvPr/>
        </p:nvSpPr>
        <p:spPr>
          <a:xfrm>
            <a:off x="2363048" y="5024060"/>
            <a:ext cx="192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训练过程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DBAC3D09-ACAF-4274-7624-2790E8055706}"/>
              </a:ext>
            </a:extLst>
          </p:cNvPr>
          <p:cNvSpPr/>
          <p:nvPr/>
        </p:nvSpPr>
        <p:spPr>
          <a:xfrm>
            <a:off x="8116368" y="5069178"/>
            <a:ext cx="1168400" cy="331098"/>
          </a:xfrm>
          <a:prstGeom prst="roundRect">
            <a:avLst>
              <a:gd name="adj" fmla="val 11453"/>
            </a:avLst>
          </a:prstGeom>
          <a:solidFill>
            <a:srgbClr val="F9F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D4FEC35-B027-16C5-6C78-CDF1D0262121}"/>
              </a:ext>
            </a:extLst>
          </p:cNvPr>
          <p:cNvSpPr txBox="1"/>
          <p:nvPr/>
        </p:nvSpPr>
        <p:spPr>
          <a:xfrm>
            <a:off x="7749046" y="5042006"/>
            <a:ext cx="192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执行过程</a:t>
            </a:r>
          </a:p>
        </p:txBody>
      </p:sp>
    </p:spTree>
    <p:extLst>
      <p:ext uri="{BB962C8B-B14F-4D97-AF65-F5344CB8AC3E}">
        <p14:creationId xmlns:p14="http://schemas.microsoft.com/office/powerpoint/2010/main" val="126218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33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空 天</dc:creator>
  <cp:lastModifiedBy>空 天</cp:lastModifiedBy>
  <cp:revision>21</cp:revision>
  <dcterms:created xsi:type="dcterms:W3CDTF">2026-02-24T03:34:28Z</dcterms:created>
  <dcterms:modified xsi:type="dcterms:W3CDTF">2026-02-24T04:46:23Z</dcterms:modified>
</cp:coreProperties>
</file>